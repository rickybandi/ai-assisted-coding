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25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514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3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-2103120"/>
            <a:ext cx="5303520" cy="5303520"/>
          </a:xfrm>
          <a:prstGeom prst="lin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-1005840"/>
            <a:ext cx="3200400" cy="3200400"/>
          </a:xfrm>
          <a:prstGeom prst="lin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92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02C39A"/>
                </a:solidFill>
              </a:rPr>
              <a:t>SRU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DDE4F0"/>
                </a:solidFill>
              </a:rPr>
              <a:t>SR UNIVERSITY  |  CSE [AIML]  |  BATCH 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41732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FFFFFF"/>
                </a:solidFill>
              </a:rPr>
              <a:t>JobSpace</a:t>
            </a:r>
            <a:endParaRPr lang="en-US" sz="8400" dirty="0"/>
          </a:p>
        </p:txBody>
      </p:sp>
      <p:sp>
        <p:nvSpPr>
          <p:cNvPr id="8" name="Shape 6"/>
          <p:cNvSpPr/>
          <p:nvPr/>
        </p:nvSpPr>
        <p:spPr>
          <a:xfrm>
            <a:off x="384048" y="2779776"/>
            <a:ext cx="56692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907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DE4F0"/>
                </a:solidFill>
              </a:rPr>
              <a:t>A Unified Job Application Intelligence Platform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86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4005072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2303A52325   Kandagatla Sai Teja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2303A52330   Bandi Rithwik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2303A52352   Elikatte Tharun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</a:rPr>
              <a:t>2303A52356   Kumba Ganesh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5394960"/>
            <a:ext cx="864108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5431536"/>
            <a:ext cx="7909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57884" y="5394960"/>
            <a:ext cx="1298448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4460" y="543153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Express.js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66060" y="5394960"/>
            <a:ext cx="1385316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2636" y="5431536"/>
            <a:ext cx="13121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 Atlas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61104" y="5394960"/>
            <a:ext cx="690372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5431536"/>
            <a:ext cx="617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61204" y="5394960"/>
            <a:ext cx="77724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5431536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Vercel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8172" y="5394960"/>
            <a:ext cx="77724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4748" y="5431536"/>
            <a:ext cx="704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Render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35140" y="5394960"/>
            <a:ext cx="516636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1716" y="5431536"/>
            <a:ext cx="4434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JWT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61504" y="5394960"/>
            <a:ext cx="950976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543153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Mongoose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5824728"/>
            <a:ext cx="11420856" cy="54864"/>
          </a:xfrm>
          <a:prstGeom prst="rect">
            <a:avLst/>
          </a:prstGeom>
          <a:solidFill>
            <a:srgbClr val="0E7C86">
              <a:alpha val="45000"/>
            </a:srgbClr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5897880"/>
            <a:ext cx="228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6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84048" y="6336792"/>
            <a:ext cx="2284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F0"/>
                </a:solidFill>
              </a:rPr>
              <a:t>Modules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68219" y="5897880"/>
            <a:ext cx="228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9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668219" y="6336792"/>
            <a:ext cx="2284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F0"/>
                </a:solidFill>
              </a:rPr>
              <a:t>API Routes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2390" y="5897880"/>
            <a:ext cx="228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5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952390" y="6336792"/>
            <a:ext cx="2284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F0"/>
                </a:solidFill>
              </a:rPr>
              <a:t>DB Models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36562" y="5897880"/>
            <a:ext cx="228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236562" y="6336792"/>
            <a:ext cx="2284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F0"/>
                </a:solidFill>
              </a:rPr>
              <a:t>Cloud Services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20733" y="5897880"/>
            <a:ext cx="22841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</a:rPr>
              <a:t>6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520733" y="6336792"/>
            <a:ext cx="2284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4F0"/>
                </a:solidFill>
              </a:rPr>
              <a:t>Analytics Pipelines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60152" y="6601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B4F8A">
              <a:alpha val="12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2C39A"/>
                </a:solidFill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4251960"/>
            <a:ext cx="201168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3295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DDE4F0"/>
                </a:solidFill>
              </a:rPr>
              <a:t>Understanding the challenges in modern job search management chaos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029968" cy="25603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7726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/>
              <a:t>Problem in Modern Job Search</a:t>
            </a:r>
            <a:endParaRPr lang="en-US" sz="3600" dirty="0"/>
          </a:p>
          <a:p>
            <a:pPr marL="0" indent="0">
              <a:buNone/>
            </a:pP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19" y="2162757"/>
            <a:ext cx="356006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19" y="2162757"/>
            <a:ext cx="3560064" cy="9144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191" y="2318205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1" y="3122877"/>
            <a:ext cx="323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No Structure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7511" y="3534357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Job seekers juggle applications across spreadsheets, emails, and sticky notes.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799" y="4293309"/>
            <a:ext cx="1512418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3" y="4320741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Missed follow-ups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9657" y="4293309"/>
            <a:ext cx="1287475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44521" y="4320741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Duplicate apps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799" y="4622493"/>
            <a:ext cx="1587398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3" y="4649925"/>
            <a:ext cx="1477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No status tracking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00143" y="2162757"/>
            <a:ext cx="356006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00143" y="2162757"/>
            <a:ext cx="3560064" cy="9144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5" y="2318205"/>
            <a:ext cx="731520" cy="7315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64735" y="3122877"/>
            <a:ext cx="323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Zero Analytics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364735" y="3534357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No way to measure response rates, track patterns, or optimise the search.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383023" y="4293309"/>
            <a:ext cx="1287475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37887" y="4320741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No funnel data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5761938" y="4293309"/>
            <a:ext cx="1737360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16802" y="4320741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No velocity tracking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383023" y="4622493"/>
            <a:ext cx="1812341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37887" y="4649925"/>
            <a:ext cx="1702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Blind decision-making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897367" y="2162757"/>
            <a:ext cx="3560064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897367" y="2162757"/>
            <a:ext cx="3560064" cy="9144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1639" y="2318205"/>
            <a:ext cx="731520" cy="7315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61959" y="3122877"/>
            <a:ext cx="323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Missing Tools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8061959" y="3534357"/>
            <a:ext cx="323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Existing platforms (Huntr, Teal) lack custom columns, CRM, and document management.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8080247" y="4293309"/>
            <a:ext cx="1212494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135111" y="4320741"/>
            <a:ext cx="11027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Fixed schemas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9384181" y="4293309"/>
            <a:ext cx="1512418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439045" y="4320741"/>
            <a:ext cx="14026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No document vault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8080247" y="4622493"/>
            <a:ext cx="1287475" cy="246888"/>
          </a:xfrm>
          <a:prstGeom prst="rect">
            <a:avLst/>
          </a:prstGeom>
          <a:solidFill>
            <a:srgbClr val="EBF3FB"/>
          </a:solidFill>
          <a:ln w="6350">
            <a:solidFill>
              <a:srgbClr val="DDE4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135111" y="4649925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</a:rPr>
              <a:t>No company CRM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02919" y="5043117"/>
            <a:ext cx="10954512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799" y="5116269"/>
            <a:ext cx="530352" cy="53035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325879" y="5143701"/>
            <a:ext cx="10085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</a:rPr>
              <a:t>JobSpace solves this — one platform for tracking, analytics, CRM, and documents.</a:t>
            </a:r>
            <a:endParaRPr 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7F51B0-A4DB-845B-97ED-920DFE0082F8}"/>
              </a:ext>
            </a:extLst>
          </p:cNvPr>
          <p:cNvSpPr txBox="1"/>
          <p:nvPr/>
        </p:nvSpPr>
        <p:spPr>
          <a:xfrm>
            <a:off x="502919" y="1175325"/>
            <a:ext cx="11487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modern job search process is fragmented, unstructured, and lacks analytical support, making it difficult for candidates to effectively manage and optimize their application lifecycle.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325880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What We Set Out to Build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19072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53619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0D1B2A"/>
                </a:solidFill>
              </a:rPr>
              <a:t>Develop a Multi-Tenant, Full-Stack platform for managing the complete Job Application lifecycle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0144" y="137160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0144" y="137160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1312" y="1719072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60264" y="153619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</a:rPr>
              <a:t>Implement Dual-Mode authentication (JWT + session) for secure cross-Domain use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897368" y="137160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897368" y="137160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8536" y="1719072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57488" y="153619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0D1B2A"/>
                </a:solidFill>
              </a:rPr>
              <a:t>Design a Dynamic Column engine enabling user-defined schema customization without database migrations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10896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310896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456432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27355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0D1B2A"/>
                </a:solidFill>
              </a:rPr>
              <a:t>Develop an analytics engine using MongoDB aggregation pipelines for multi-dimensional insights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200144" y="310896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200144" y="310896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312" y="3456432"/>
            <a:ext cx="640080" cy="6400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60264" y="327355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0D1B2A"/>
                </a:solidFill>
              </a:rPr>
              <a:t>Create a Company CRM module to manage recruiter interactions and application status lifecycle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97368" y="3108960"/>
            <a:ext cx="3569208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897368" y="3108960"/>
            <a:ext cx="91440" cy="15361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8536" y="3456432"/>
            <a:ext cx="640080" cy="6400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857488" y="3273552"/>
            <a:ext cx="24902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0D1B2A"/>
                </a:solidFill>
              </a:rPr>
              <a:t>Deploy the System on scalable cloud infrastructure using </a:t>
            </a:r>
            <a:r>
              <a:rPr lang="en-US" sz="1250" dirty="0" err="1">
                <a:solidFill>
                  <a:srgbClr val="0D1B2A"/>
                </a:solidFill>
              </a:rPr>
              <a:t>Vercel</a:t>
            </a:r>
            <a:r>
              <a:rPr lang="en-US" sz="1250" dirty="0">
                <a:solidFill>
                  <a:srgbClr val="0D1B2A"/>
                </a:solidFill>
              </a:rPr>
              <a:t>, Render, and MongoDB Atlas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527048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STAKEHOLDERS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Who Uses JobSpace?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96364" y="2215741"/>
            <a:ext cx="356006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6364" y="2215741"/>
            <a:ext cx="3560064" cy="10789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484" y="2307181"/>
            <a:ext cx="749808" cy="749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7804" y="3056989"/>
            <a:ext cx="3377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Job Seekers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7532" y="3404461"/>
            <a:ext cx="3157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Track and manage large volumes of job applications efficiently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Custom column types per workflow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Measure response &amp; offer rates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Store resume versions safely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93588" y="2215741"/>
            <a:ext cx="356006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93588" y="2215741"/>
            <a:ext cx="3560064" cy="107899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708" y="2307181"/>
            <a:ext cx="749808" cy="7498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85028" y="3056989"/>
            <a:ext cx="3377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Admins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394756" y="3404461"/>
            <a:ext cx="3157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Manage users using role-based access control (RBAC)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View system-wide statistics and usage insights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Assign and revoke user roles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Monitor system activity and platform performance 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90812" y="2215741"/>
            <a:ext cx="3560064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90812" y="2215741"/>
            <a:ext cx="3560064" cy="107899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1932" y="2307181"/>
            <a:ext cx="749808" cy="7498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82252" y="3056989"/>
            <a:ext cx="3377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Recruiter Entities (Stored Data)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91980" y="3404461"/>
            <a:ext cx="31577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Stored as Company CRM records within the system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Recruiter details (name, email, LinkedIn) maintained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Application status tracked across lifecycle stages  </a:t>
            </a: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0D1B2A"/>
                </a:solidFill>
              </a:rPr>
              <a:t>Interaction history recorded via notes and contact fields 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1331BD-6B94-E9C7-621B-5D0B87FECC20}"/>
              </a:ext>
            </a:extLst>
          </p:cNvPr>
          <p:cNvSpPr txBox="1"/>
          <p:nvPr/>
        </p:nvSpPr>
        <p:spPr>
          <a:xfrm>
            <a:off x="496364" y="1232529"/>
            <a:ext cx="7763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JobSpace</a:t>
            </a:r>
            <a:r>
              <a:rPr lang="en-US" dirty="0"/>
              <a:t> Supports Multiple Stakeholder groups, Each Interacting with the system at different levels of Access a	</a:t>
            </a:r>
            <a:r>
              <a:rPr lang="en-US" dirty="0" err="1"/>
              <a:t>nd</a:t>
            </a:r>
            <a:r>
              <a:rPr lang="en-US" dirty="0"/>
              <a:t>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929384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TECHNOLOGY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Tools &amp; Technologies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2154664"/>
            <a:ext cx="212689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54664"/>
            <a:ext cx="2126894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246104"/>
            <a:ext cx="1980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4902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78560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Node.js 20 LTS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343384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37996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Express.js 5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937744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97432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</a:rPr>
              <a:t>Session-based Auth + </a:t>
            </a:r>
            <a:r>
              <a:rPr lang="en-US" sz="1150" dirty="0" err="1">
                <a:solidFill>
                  <a:srgbClr val="0D1B2A"/>
                </a:solidFill>
              </a:rPr>
              <a:t>bcryptjs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" y="4532104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56868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Multer (uploads)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2721254" y="2154664"/>
            <a:ext cx="212689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2721254" y="2154664"/>
            <a:ext cx="2126894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794406" y="2246104"/>
            <a:ext cx="1980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9270" y="2749024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15614" y="278560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React + Vite</a:t>
            </a:r>
            <a:endParaRPr lang="en-US" sz="11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9270" y="3343384"/>
            <a:ext cx="402336" cy="40233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315614" y="337996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SPA (single-page)</a:t>
            </a:r>
            <a:endParaRPr lang="en-US" sz="115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9270" y="3937744"/>
            <a:ext cx="402336" cy="40233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315614" y="397432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Dynamic grid UI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4939589" y="2154664"/>
            <a:ext cx="212689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4939589" y="2154664"/>
            <a:ext cx="2126894" cy="47548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012741" y="2246104"/>
            <a:ext cx="1980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7605" y="2749024"/>
            <a:ext cx="402336" cy="40233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533949" y="278560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MongoDB Atlas</a:t>
            </a:r>
            <a:endParaRPr lang="en-US" sz="11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7605" y="3343384"/>
            <a:ext cx="402336" cy="40233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533949" y="337996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Mongoose 9 ODM</a:t>
            </a:r>
            <a:endParaRPr lang="en-US" sz="115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7605" y="3937744"/>
            <a:ext cx="402336" cy="40233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533949" y="397432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connect-mongo</a:t>
            </a:r>
            <a:endParaRPr lang="en-US" sz="1150" dirty="0"/>
          </a:p>
        </p:txBody>
      </p:sp>
      <p:sp>
        <p:nvSpPr>
          <p:cNvPr id="36" name="Shape 24"/>
          <p:cNvSpPr/>
          <p:nvPr/>
        </p:nvSpPr>
        <p:spPr>
          <a:xfrm>
            <a:off x="7157923" y="2154664"/>
            <a:ext cx="212689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7157923" y="2154664"/>
            <a:ext cx="2126894" cy="475488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7231075" y="2246104"/>
            <a:ext cx="1980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</a:t>
            </a:r>
            <a:endParaRPr lang="en-US" sz="13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85939" y="2749024"/>
            <a:ext cx="402336" cy="402336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7752283" y="278560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Render (API)</a:t>
            </a:r>
            <a:endParaRPr lang="en-US" sz="1150" dirty="0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5939" y="3343384"/>
            <a:ext cx="402336" cy="402336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7752283" y="337996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Vercel (SPA)</a:t>
            </a:r>
            <a:endParaRPr lang="en-US" sz="115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5939" y="3937744"/>
            <a:ext cx="402336" cy="402336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7752283" y="397432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Atlas (DB)</a:t>
            </a:r>
            <a:endParaRPr lang="en-US" sz="1150" dirty="0"/>
          </a:p>
        </p:txBody>
      </p:sp>
      <p:sp>
        <p:nvSpPr>
          <p:cNvPr id="45" name="Shape 30"/>
          <p:cNvSpPr/>
          <p:nvPr/>
        </p:nvSpPr>
        <p:spPr>
          <a:xfrm>
            <a:off x="9376258" y="2154664"/>
            <a:ext cx="2126894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31"/>
          <p:cNvSpPr/>
          <p:nvPr/>
        </p:nvSpPr>
        <p:spPr>
          <a:xfrm>
            <a:off x="9376258" y="2154664"/>
            <a:ext cx="2126894" cy="4754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9449410" y="2246104"/>
            <a:ext cx="1980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Tools</a:t>
            </a:r>
            <a:endParaRPr lang="en-US" sz="13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4274" y="2749024"/>
            <a:ext cx="402336" cy="402336"/>
          </a:xfrm>
          <a:prstGeom prst="rect">
            <a:avLst/>
          </a:prstGeom>
        </p:spPr>
      </p:pic>
      <p:sp>
        <p:nvSpPr>
          <p:cNvPr id="49" name="Text 33"/>
          <p:cNvSpPr/>
          <p:nvPr/>
        </p:nvSpPr>
        <p:spPr>
          <a:xfrm>
            <a:off x="9970618" y="278560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Git / GitHub</a:t>
            </a:r>
            <a:endParaRPr lang="en-US" sz="1150" dirty="0"/>
          </a:p>
        </p:txBody>
      </p:sp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274" y="3343384"/>
            <a:ext cx="402336" cy="402336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9970618" y="337996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VS Code</a:t>
            </a:r>
            <a:endParaRPr lang="en-US" sz="1150" dirty="0"/>
          </a:p>
        </p:txBody>
      </p:sp>
      <p:pic>
        <p:nvPicPr>
          <p:cNvPr id="52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04274" y="3937744"/>
            <a:ext cx="402336" cy="402336"/>
          </a:xfrm>
          <a:prstGeom prst="rect">
            <a:avLst/>
          </a:prstGeom>
        </p:spPr>
      </p:pic>
      <p:sp>
        <p:nvSpPr>
          <p:cNvPr id="53" name="Text 35"/>
          <p:cNvSpPr/>
          <p:nvPr/>
        </p:nvSpPr>
        <p:spPr>
          <a:xfrm>
            <a:off x="9970618" y="3974320"/>
            <a:ext cx="14136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0D1B2A"/>
                </a:solidFill>
              </a:rPr>
              <a:t>AI-assisted development tools</a:t>
            </a:r>
            <a:endParaRPr lang="en-US" sz="11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2C55C1-C872-4938-10B5-DFDE6D701E23}"/>
              </a:ext>
            </a:extLst>
          </p:cNvPr>
          <p:cNvSpPr txBox="1"/>
          <p:nvPr/>
        </p:nvSpPr>
        <p:spPr>
          <a:xfrm>
            <a:off x="502920" y="1228616"/>
            <a:ext cx="11099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system is built using a modern MERN stack architecture with supporting tools for development, deployment, and data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633472" cy="25603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AI-ASSISTED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Prompts That Built JobSpace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DE4F0"/>
                </a:solidFill>
              </a:rPr>
              <a:t>How we used AI to accelerate development — prompt → output → integrated into the system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1183112" cy="1444752"/>
          </a:xfrm>
          <a:prstGeom prst="rect">
            <a:avLst/>
          </a:prstGeom>
          <a:solidFill>
            <a:srgbClr val="1B4F8A">
              <a:alpha val="18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2821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3736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08760" y="169164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DDE4F0"/>
                </a:solidFill>
              </a:rPr>
              <a:t>“Generate a production-ready full-stack SaaS Job Tracking system (</a:t>
            </a:r>
            <a:r>
              <a:rPr lang="en-US" sz="1050" i="1" dirty="0" err="1">
                <a:solidFill>
                  <a:srgbClr val="DDE4F0"/>
                </a:solidFill>
              </a:rPr>
              <a:t>JobSpace</a:t>
            </a:r>
            <a:r>
              <a:rPr lang="en-US" sz="1050" i="1" dirty="0">
                <a:solidFill>
                  <a:srgbClr val="DDE4F0"/>
                </a:solidFill>
              </a:rPr>
              <a:t>) using Node.js, Express, MongoDB, and modern UI principles, including authentication, dashboards, analytics, document management, and admin features.”</a:t>
            </a:r>
            <a:endParaRPr lang="en-US" sz="10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48840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42416" y="214884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2C39A"/>
                </a:solidFill>
              </a:rPr>
              <a:t>Output: Generated complete project structure with backend, frontend, models, routes, controllers, and UI components.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69464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87552" y="256946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FFFFFF"/>
                </a:solidFill>
              </a:rPr>
              <a:t>Used in: Initial system architecture and full project foundation (backend + frontend </a:t>
            </a:r>
            <a:r>
              <a:rPr lang="en-US" sz="1050" i="1" dirty="0" err="1">
                <a:solidFill>
                  <a:srgbClr val="FFFFFF"/>
                </a:solidFill>
              </a:rPr>
              <a:t>mo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154680"/>
            <a:ext cx="11183112" cy="1444752"/>
          </a:xfrm>
          <a:prstGeom prst="rect">
            <a:avLst/>
          </a:prstGeom>
          <a:solidFill>
            <a:srgbClr val="1B4F8A">
              <a:alpha val="18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328269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8368" y="32918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508760" y="324612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DDE4F0"/>
                </a:solidFill>
              </a:rPr>
              <a:t>"Configure Express CORS to securely handle cross-origin requests, including support for dynamic frontend URLs such as </a:t>
            </a:r>
            <a:r>
              <a:rPr lang="en-US" sz="1050" i="1" dirty="0" err="1">
                <a:solidFill>
                  <a:srgbClr val="DDE4F0"/>
                </a:solidFill>
              </a:rPr>
              <a:t>Vercel</a:t>
            </a:r>
            <a:r>
              <a:rPr lang="en-US" sz="1050" i="1" dirty="0">
                <a:solidFill>
                  <a:srgbClr val="DDE4F0"/>
                </a:solidFill>
              </a:rPr>
              <a:t> deployments and development environments."</a:t>
            </a:r>
            <a:endParaRPr lang="en-US" sz="10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0332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42416" y="370332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2C39A"/>
                </a:solidFill>
              </a:rPr>
              <a:t>Output: Implemented dynamic CORS configuration with origin validation and secure request handling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2394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412394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FFFFFF"/>
                </a:solidFill>
              </a:rPr>
              <a:t>Used in: Backend server configuration to enable secure communication between frontend and API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4709160"/>
            <a:ext cx="11183112" cy="1444752"/>
          </a:xfrm>
          <a:prstGeom prst="rect">
            <a:avLst/>
          </a:prstGeom>
          <a:solidFill>
            <a:srgbClr val="1B4F8A">
              <a:alpha val="18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483717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58368" y="48463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508760" y="480060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DDE4F0"/>
                </a:solidFill>
              </a:rPr>
              <a:t>"Design a dynamic update handler that routes incoming fields to either predefined Mongoose schema fields or a flexible </a:t>
            </a:r>
            <a:r>
              <a:rPr lang="en-US" sz="1050" i="1" dirty="0" err="1">
                <a:solidFill>
                  <a:srgbClr val="DDE4F0"/>
                </a:solidFill>
              </a:rPr>
              <a:t>extraData</a:t>
            </a:r>
            <a:r>
              <a:rPr lang="en-US" sz="1050" i="1" dirty="0">
                <a:solidFill>
                  <a:srgbClr val="DDE4F0"/>
                </a:solidFill>
              </a:rPr>
              <a:t> structure using MongoDB dot notation for scalable schema-less storage."</a:t>
            </a:r>
            <a:endParaRPr lang="en-US" sz="10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2578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42416" y="525780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2C39A"/>
                </a:solidFill>
              </a:rPr>
              <a:t>Output: Implemented dynamic PATCH dispatcher enabling flexible field mapping and atomic updates using MongoDB operations</a:t>
            </a:r>
            <a:endParaRPr lang="en-US" sz="11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678424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87552" y="567842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FFFFFF"/>
                </a:solidFill>
              </a:rPr>
              <a:t>Used in: Core backend logic enabling customizable spreadsheet columns without requiring database schema modifications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633472" cy="256032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AI-ASSISTED DEVELOPMENT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More Prompts — Analytics &amp; Security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11183112" cy="1444752"/>
          </a:xfrm>
          <a:prstGeom prst="rect">
            <a:avLst/>
          </a:prstGeom>
          <a:solidFill>
            <a:srgbClr val="0E7C86">
              <a:alpha val="12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2821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3736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08760" y="169164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bg1"/>
                </a:solidFill>
              </a:rPr>
              <a:t>“Design a scalable analytics controller using MongoDB aggregation pipelines to compute monthly trends, status distribution, response rates, and top companies.”</a:t>
            </a: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4884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42416" y="214884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Output: </a:t>
            </a:r>
            <a:r>
              <a:rPr lang="en-US" sz="1100" dirty="0" err="1">
                <a:solidFill>
                  <a:srgbClr val="02C39A"/>
                </a:solidFill>
              </a:rPr>
              <a:t>analyticsController.js</a:t>
            </a:r>
            <a:r>
              <a:rPr lang="en-US" sz="1100" dirty="0">
                <a:solidFill>
                  <a:srgbClr val="02C39A"/>
                </a:solidFill>
              </a:rPr>
              <a:t> – multi pipeline aggregation, optimized queries, KPI – ready datasets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694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256946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chemeClr val="bg1"/>
                </a:solidFill>
              </a:rPr>
              <a:t>Used in: </a:t>
            </a:r>
            <a:r>
              <a:rPr lang="en-US" sz="1050" dirty="0">
                <a:solidFill>
                  <a:schemeClr val="bg1"/>
                </a:solidFill>
              </a:rPr>
              <a:t>Analytics dashboard — enables charts, trends, and decision-making insights</a:t>
            </a:r>
          </a:p>
          <a:p>
            <a:pPr marL="0" indent="0">
              <a:buNone/>
            </a:pP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02920" y="3154680"/>
            <a:ext cx="11183112" cy="1444752"/>
          </a:xfrm>
          <a:prstGeom prst="rect">
            <a:avLst/>
          </a:prstGeom>
          <a:solidFill>
            <a:srgbClr val="0E7C86">
              <a:alpha val="12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328269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32918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508760" y="324612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4F0"/>
                </a:solidFill>
              </a:rPr>
              <a:t>"Configure Express CORS with both exact origin matching and wildcard regex pattern support for Vercel preview deployment URLs"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0332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42416" y="370332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Output: Dynamic CORS resolver – handles *.vercel.app previews safely via regex at startup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12394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412394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Used in: app.js CORS config – production-safe for continuous deployment workflows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02920" y="4709160"/>
            <a:ext cx="11183112" cy="1444752"/>
          </a:xfrm>
          <a:prstGeom prst="rect">
            <a:avLst/>
          </a:prstGeom>
          <a:solidFill>
            <a:srgbClr val="0E7C86">
              <a:alpha val="12000"/>
            </a:srgbClr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4837176"/>
            <a:ext cx="804672" cy="219456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58368" y="484632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2A"/>
                </a:solidFill>
              </a:rPr>
              <a:t>PROMPT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508760" y="4800600"/>
            <a:ext cx="10085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DE4F0"/>
                </a:solidFill>
              </a:rPr>
              <a:t>"Design a Multer file upload middleware with disk storage, randomized filenames, file type whitelist (pdf/docx/jpg), and 10MB size cap"</a:t>
            </a:r>
            <a:endParaRPr lang="en-US" sz="10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25780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42416" y="5257800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Output: uploadMiddleware.js – collision-resistant names, prevents path traversal attacks</a:t>
            </a:r>
            <a:endParaRPr lang="en-US" sz="11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67842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87552" y="567842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Used in: Document vault – handles resume, cover letter, portfolio, certificate uploads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828800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How JobSpace Works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83112" cy="2011680"/>
          </a:xfrm>
          <a:prstGeom prst="rect">
            <a:avLst/>
          </a:prstGeom>
          <a:solidFill>
            <a:srgbClr val="EBF3FB"/>
          </a:solidFill>
          <a:ln w="10160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</a:rPr>
              <a:t>[ PLACE FLOWCHART HERE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10360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JobSpace Workflow: Register → Login (JWT/Session) → Add Applications → Track Status → Manage Companies → Upload Documents → View Analytics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27454" y="4660938"/>
            <a:ext cx="1388364" cy="0"/>
          </a:xfrm>
          <a:prstGeom prst="line">
            <a:avLst/>
          </a:prstGeom>
          <a:noFill/>
          <a:ln w="17780">
            <a:solidFill>
              <a:srgbClr val="0E7C86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1251966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1966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2648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JWT or Session auth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91306" y="4660938"/>
            <a:ext cx="1388364" cy="0"/>
          </a:xfrm>
          <a:prstGeom prst="line">
            <a:avLst/>
          </a:prstGeom>
          <a:noFill/>
          <a:ln w="17780">
            <a:solidFill>
              <a:srgbClr val="0E7C86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3115818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5818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76500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Add Application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76500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Job title, company, 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55158" y="4660938"/>
            <a:ext cx="1388364" cy="0"/>
          </a:xfrm>
          <a:prstGeom prst="line">
            <a:avLst/>
          </a:prstGeom>
          <a:noFill/>
          <a:ln w="17780">
            <a:solidFill>
              <a:srgbClr val="0E7C86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4979670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9670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40352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Track &amp; 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0352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Inline edit, custom columns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9010" y="4660938"/>
            <a:ext cx="1388364" cy="0"/>
          </a:xfrm>
          <a:prstGeom prst="line">
            <a:avLst/>
          </a:prstGeom>
          <a:noFill/>
          <a:ln w="17780">
            <a:solidFill>
              <a:srgbClr val="0E7C86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6843522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3522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04204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Manage Companies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04204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CRM + recruiter info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82862" y="4660938"/>
            <a:ext cx="1388364" cy="0"/>
          </a:xfrm>
          <a:prstGeom prst="line">
            <a:avLst/>
          </a:prstGeom>
          <a:noFill/>
          <a:ln w="17780">
            <a:solidFill>
              <a:srgbClr val="0E7C86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8707374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7374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68056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Upload Documents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68056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Resume, cover letter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571226" y="4423194"/>
            <a:ext cx="475488" cy="475488"/>
          </a:xfrm>
          <a:prstGeom prst="rect">
            <a:avLst/>
          </a:prstGeom>
          <a:solidFill>
            <a:srgbClr val="1B4F8A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1226" y="442319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931908" y="5008410"/>
            <a:ext cx="17541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31908" y="5355882"/>
            <a:ext cx="1754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Charts + KPIs</a:t>
            </a:r>
            <a:endParaRPr lang="en-US" sz="950" dirty="0"/>
          </a:p>
        </p:txBody>
      </p:sp>
      <p:pic>
        <p:nvPicPr>
          <p:cNvPr id="40" name="Picture 39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236117BB-B5EC-9B16-4FCD-61F5F6DB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59"/>
            <a:ext cx="11183112" cy="26239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1426464" cy="2560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What the User Sees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569208" cy="2834640"/>
          </a:xfrm>
          <a:prstGeom prst="rect">
            <a:avLst/>
          </a:prstGeom>
          <a:solidFill>
            <a:srgbClr val="0D1B2A">
              <a:alpha val="5000"/>
            </a:srgbClr>
          </a:solidFill>
          <a:ln w="10160">
            <a:solidFill>
              <a:srgbClr val="DDE4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98448"/>
            <a:ext cx="3569208" cy="2560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353312"/>
            <a:ext cx="128016" cy="128016"/>
          </a:xfrm>
          <a:prstGeom prst="line">
            <a:avLst/>
          </a:prstGeom>
          <a:solidFill>
            <a:srgbClr val="FC635D"/>
          </a:solidFill>
          <a:ln w="12700">
            <a:solidFill>
              <a:srgbClr val="FC63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" y="1353312"/>
            <a:ext cx="128016" cy="128016"/>
          </a:xfrm>
          <a:prstGeom prst="line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1353312"/>
            <a:ext cx="128016" cy="128016"/>
          </a:xfrm>
          <a:prstGeom prst="line">
            <a:avLst/>
          </a:prstGeom>
          <a:solidFill>
            <a:srgbClr val="35CD4B"/>
          </a:solidFill>
          <a:ln w="12700">
            <a:solidFill>
              <a:srgbClr val="35CD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554480"/>
            <a:ext cx="3569208" cy="2578608"/>
          </a:xfrm>
          <a:prstGeom prst="rect">
            <a:avLst/>
          </a:prstGeom>
          <a:solidFill>
            <a:srgbClr val="F4F7FC"/>
          </a:solidFill>
          <a:ln w="6350">
            <a:solidFill>
              <a:srgbClr val="DDE4F0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492" y="2212848"/>
            <a:ext cx="512064" cy="5120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12648" y="2807208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</a:rPr>
              <a:t>[ PLACE UI SCREENSHOT HERE ]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2648" y="3145536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Dashboard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4224528"/>
            <a:ext cx="356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2920" y="4498848"/>
            <a:ext cx="3569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KPI cards + 6 charts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00144" y="1298448"/>
            <a:ext cx="3569208" cy="2834640"/>
          </a:xfrm>
          <a:prstGeom prst="rect">
            <a:avLst/>
          </a:prstGeom>
          <a:solidFill>
            <a:srgbClr val="0D1B2A">
              <a:alpha val="5000"/>
            </a:srgbClr>
          </a:solidFill>
          <a:ln w="10160">
            <a:solidFill>
              <a:srgbClr val="DDE4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00144" y="1298448"/>
            <a:ext cx="3569208" cy="2560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09872" y="1353312"/>
            <a:ext cx="128016" cy="128016"/>
          </a:xfrm>
          <a:prstGeom prst="line">
            <a:avLst/>
          </a:prstGeom>
          <a:solidFill>
            <a:srgbClr val="FC635D"/>
          </a:solidFill>
          <a:ln w="12700">
            <a:solidFill>
              <a:srgbClr val="FC635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11040" y="1353312"/>
            <a:ext cx="128016" cy="128016"/>
          </a:xfrm>
          <a:prstGeom prst="line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2208" y="1353312"/>
            <a:ext cx="128016" cy="128016"/>
          </a:xfrm>
          <a:prstGeom prst="line">
            <a:avLst/>
          </a:prstGeom>
          <a:solidFill>
            <a:srgbClr val="35CD4B"/>
          </a:solidFill>
          <a:ln w="12700">
            <a:solidFill>
              <a:srgbClr val="35CD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200144" y="1554480"/>
            <a:ext cx="3569208" cy="2578608"/>
          </a:xfrm>
          <a:prstGeom prst="rect">
            <a:avLst/>
          </a:prstGeom>
          <a:solidFill>
            <a:srgbClr val="F4F7FC"/>
          </a:solidFill>
          <a:ln w="6350">
            <a:solidFill>
              <a:srgbClr val="DDE4F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212848"/>
            <a:ext cx="512064" cy="51206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09872" y="2807208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</a:rPr>
              <a:t>[ PLACE UI SCREENSHOT HERE ]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309872" y="3145536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Applications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200144" y="4224528"/>
            <a:ext cx="356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200144" y="4498848"/>
            <a:ext cx="3569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Dynamic spreadsheet grid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897368" y="1298448"/>
            <a:ext cx="3569208" cy="2834640"/>
          </a:xfrm>
          <a:prstGeom prst="rect">
            <a:avLst/>
          </a:prstGeom>
          <a:solidFill>
            <a:srgbClr val="0D1B2A">
              <a:alpha val="5000"/>
            </a:srgbClr>
          </a:solidFill>
          <a:ln w="10160">
            <a:solidFill>
              <a:srgbClr val="DDE4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897368" y="1298448"/>
            <a:ext cx="3569208" cy="25603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007096" y="1353312"/>
            <a:ext cx="128016" cy="128016"/>
          </a:xfrm>
          <a:prstGeom prst="line">
            <a:avLst/>
          </a:prstGeom>
          <a:solidFill>
            <a:srgbClr val="FC635D"/>
          </a:solidFill>
          <a:ln w="12700">
            <a:solidFill>
              <a:srgbClr val="FC635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08264" y="1353312"/>
            <a:ext cx="128016" cy="128016"/>
          </a:xfrm>
          <a:prstGeom prst="line">
            <a:avLst/>
          </a:prstGeom>
          <a:solidFill>
            <a:srgbClr val="FDBC40"/>
          </a:solidFill>
          <a:ln w="12700">
            <a:solidFill>
              <a:srgbClr val="FDBC4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409432" y="1353312"/>
            <a:ext cx="128016" cy="128016"/>
          </a:xfrm>
          <a:prstGeom prst="line">
            <a:avLst/>
          </a:prstGeom>
          <a:solidFill>
            <a:srgbClr val="35CD4B"/>
          </a:solidFill>
          <a:ln w="12700">
            <a:solidFill>
              <a:srgbClr val="35CD4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897368" y="1554480"/>
            <a:ext cx="3569208" cy="2578608"/>
          </a:xfrm>
          <a:prstGeom prst="rect">
            <a:avLst/>
          </a:prstGeom>
          <a:solidFill>
            <a:srgbClr val="F4F7FC"/>
          </a:solidFill>
          <a:ln w="6350">
            <a:solidFill>
              <a:srgbClr val="DDE4F0"/>
            </a:solidFill>
            <a:prstDash val="solid"/>
          </a:ln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940" y="2212848"/>
            <a:ext cx="512064" cy="51206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007096" y="2807208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7C86"/>
                </a:solidFill>
              </a:rPr>
              <a:t>[ PLACE UI SCREENSHOT HERE ]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007096" y="3145536"/>
            <a:ext cx="3349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Analytics</a:t>
            </a:r>
            <a:endParaRPr lang="en-US" sz="950" dirty="0"/>
          </a:p>
        </p:txBody>
      </p:sp>
      <p:sp>
        <p:nvSpPr>
          <p:cNvPr id="38" name="Text 33"/>
          <p:cNvSpPr/>
          <p:nvPr/>
        </p:nvSpPr>
        <p:spPr>
          <a:xfrm>
            <a:off x="7897368" y="4224528"/>
            <a:ext cx="3569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Analytics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7897368" y="4498848"/>
            <a:ext cx="3569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6-chart analytics suite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502920" y="4983480"/>
            <a:ext cx="11183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</a:rPr>
              <a:t>Inline cell editing with typed validation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</a:rPr>
              <a:t>Custom column types (text, number, date, dropdown)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</a:rPr>
              <a:t>Status lifecycle chips (Applied → Offer)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</a:rPr>
              <a:t>Company CRM module with recruiter fields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●"/>
            </a:pPr>
            <a:r>
              <a:rPr lang="en-US" sz="1100" dirty="0">
                <a:solidFill>
                  <a:srgbClr val="0D1B2A"/>
                </a:solidFill>
              </a:rPr>
              <a:t>Document vault with 5 typed categories</a:t>
            </a:r>
            <a:endParaRPr lang="en-US" sz="1100" dirty="0"/>
          </a:p>
        </p:txBody>
      </p:sp>
      <p:pic>
        <p:nvPicPr>
          <p:cNvPr id="42" name="Picture 41" descr="A screenshot of a graph&#10;&#10;AI-generated content may be incorrect.">
            <a:extLst>
              <a:ext uri="{FF2B5EF4-FFF2-40B4-BE49-F238E27FC236}">
                <a16:creationId xmlns:a16="http://schemas.microsoft.com/office/drawing/2014/main" id="{33741D85-3663-5300-5FED-30EC1474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08" y="1554480"/>
            <a:ext cx="3583008" cy="2579175"/>
          </a:xfrm>
          <a:prstGeom prst="rect">
            <a:avLst/>
          </a:prstGeom>
        </p:spPr>
      </p:pic>
      <p:pic>
        <p:nvPicPr>
          <p:cNvPr id="48" name="Picture 4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C5C4AB-2752-2A38-B81C-ED07B04B8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080" y="1555847"/>
            <a:ext cx="3583008" cy="2668681"/>
          </a:xfrm>
          <a:prstGeom prst="rect">
            <a:avLst/>
          </a:prstGeom>
        </p:spPr>
      </p:pic>
      <p:pic>
        <p:nvPicPr>
          <p:cNvPr id="49" name="Image201">
            <a:extLst>
              <a:ext uri="{FF2B5EF4-FFF2-40B4-BE49-F238E27FC236}">
                <a16:creationId xmlns:a16="http://schemas.microsoft.com/office/drawing/2014/main" id="{CC7F80CB-3EF7-BBF2-50DA-295E6708C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748" y="1634056"/>
            <a:ext cx="3534000" cy="11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231136" cy="2560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Three-Tier Architecture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5852160" cy="4041648"/>
          </a:xfrm>
          <a:prstGeom prst="rect">
            <a:avLst/>
          </a:prstGeom>
          <a:solidFill>
            <a:srgbClr val="EBF3FB"/>
          </a:solidFill>
          <a:ln w="10160">
            <a:solidFill>
              <a:srgbClr val="DD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C86"/>
                </a:solidFill>
              </a:rPr>
              <a:t>[ PLACE ARCHITECTURE DIAGRAM HERE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Fig. 1: High-Level System Architecture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(React SPA → Express.js API → MongoDB Atlas)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65392" y="1298448"/>
            <a:ext cx="5257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65392" y="1298448"/>
            <a:ext cx="109728" cy="12984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389888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</a:rPr>
              <a:t>Presentation Tier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1737360"/>
            <a:ext cx="4946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React SPA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Vercel CDN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Bearer 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65392" y="2688336"/>
            <a:ext cx="5257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65392" y="2688336"/>
            <a:ext cx="109728" cy="12984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779776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</a:rPr>
              <a:t>Application Tier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127248"/>
            <a:ext cx="4946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Express.js 5 / Render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9 route modules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Auth Middleware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65392" y="4078224"/>
            <a:ext cx="525780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5392" y="4078224"/>
            <a:ext cx="109728" cy="12984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4169664"/>
            <a:ext cx="4946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Tier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4517136"/>
            <a:ext cx="4946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MongoDB Atlas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5 Mongoose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▸"/>
            </a:pPr>
            <a:r>
              <a:rPr lang="en-US" sz="1100" dirty="0">
                <a:solidFill>
                  <a:srgbClr val="0D1B2A"/>
                </a:solidFill>
              </a:rPr>
              <a:t>connect-mongo sessions</a:t>
            </a:r>
            <a:endParaRPr lang="en-US" sz="1100" dirty="0"/>
          </a:p>
        </p:txBody>
      </p:sp>
      <p:pic>
        <p:nvPicPr>
          <p:cNvPr id="22" name="Image200">
            <a:extLst>
              <a:ext uri="{FF2B5EF4-FFF2-40B4-BE49-F238E27FC236}">
                <a16:creationId xmlns:a16="http://schemas.microsoft.com/office/drawing/2014/main" id="{53EF41E5-C5D1-F02B-B69E-18D9D6A17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00" y="1320000"/>
            <a:ext cx="5816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02996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 OF AI USAGE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3035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AI-Assisted Development — Evidence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DE4F0"/>
                </a:solidFill>
              </a:rPr>
              <a:t>Screenshots showing how AI tools were used to generate and refine production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5436108" cy="3200400"/>
          </a:xfrm>
          <a:prstGeom prst="rect">
            <a:avLst/>
          </a:prstGeom>
          <a:solidFill>
            <a:srgbClr val="1B4F8A">
              <a:alpha val="15000"/>
            </a:srgbClr>
          </a:solidFill>
          <a:ln w="8890">
            <a:solidFill>
              <a:srgbClr val="0E7C8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934" y="219456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971800"/>
            <a:ext cx="5161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[ PLACE SCREENSHOT HERE ]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401568"/>
            <a:ext cx="5161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E4F0"/>
                </a:solidFill>
              </a:rPr>
              <a:t>AI chat showing the auth middleware prompt and generated resolveUser() function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4846320"/>
            <a:ext cx="5436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Prompt Input → Code Output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48756" y="1554480"/>
            <a:ext cx="5436108" cy="3200400"/>
          </a:xfrm>
          <a:prstGeom prst="rect">
            <a:avLst/>
          </a:prstGeom>
          <a:solidFill>
            <a:srgbClr val="1B4F8A">
              <a:alpha val="15000"/>
            </a:srgbClr>
          </a:solidFill>
          <a:ln w="8890">
            <a:solidFill>
              <a:srgbClr val="0E7C8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19456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85916" y="2971800"/>
            <a:ext cx="5161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[ PLACE SCREENSHOT HERE ]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85916" y="3401568"/>
            <a:ext cx="51617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DE4F0"/>
                </a:solidFill>
              </a:rPr>
              <a:t>AI generating the 6-pipeline Promise.all() aggregation controller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48756" y="4846320"/>
            <a:ext cx="54361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</a:rPr>
              <a:t>Analytics Pipeline Generation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02920" y="6217920"/>
            <a:ext cx="11183112" cy="475488"/>
          </a:xfrm>
          <a:prstGeom prst="rect">
            <a:avLst/>
          </a:prstGeom>
          <a:solidFill>
            <a:srgbClr val="0E7C86">
              <a:alpha val="15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6272784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AI tools used: Anthropic Claude (architecture + code generation), ChatGPT (debugging), GitHub Copilot (inline suggestions)</a:t>
            </a:r>
            <a:endParaRPr lang="en-US" sz="1100" dirty="0"/>
          </a:p>
        </p:txBody>
      </p:sp>
      <p:pic>
        <p:nvPicPr>
          <p:cNvPr id="20" name="Image200">
            <a:extLst>
              <a:ext uri="{FF2B5EF4-FFF2-40B4-BE49-F238E27FC236}">
                <a16:creationId xmlns:a16="http://schemas.microsoft.com/office/drawing/2014/main" id="{71A8D621-75FA-071A-5AB3-952BE0B97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00" y="1600000"/>
            <a:ext cx="5402000" cy="3130000"/>
          </a:xfrm>
          <a:prstGeom prst="rect">
            <a:avLst/>
          </a:prstGeom>
        </p:spPr>
      </p:pic>
      <p:pic>
        <p:nvPicPr>
          <p:cNvPr id="21" name="Image201">
            <a:extLst>
              <a:ext uri="{FF2B5EF4-FFF2-40B4-BE49-F238E27FC236}">
                <a16:creationId xmlns:a16="http://schemas.microsoft.com/office/drawing/2014/main" id="{9B4B0DD9-229C-D9D8-1041-35D43230D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000" y="1600000"/>
            <a:ext cx="5402000" cy="313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01168"/>
            <a:ext cx="2331720" cy="256032"/>
          </a:xfrm>
          <a:prstGeom prst="rect">
            <a:avLst/>
          </a:prstGeom>
          <a:solidFill>
            <a:srgbClr val="E85D40"/>
          </a:solidFill>
          <a:ln w="12700">
            <a:solidFill>
              <a:srgbClr val="E85D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10312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COMPARATIVE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13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1B2A"/>
                </a:solidFill>
              </a:rPr>
              <a:t>JobSpace vs Existing Tools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316736"/>
            <a:ext cx="274320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135331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16736"/>
            <a:ext cx="2109978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35331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Huntr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56098" y="1316736"/>
            <a:ext cx="2109978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0962" y="135331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Teal HQ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66076" y="1316736"/>
            <a:ext cx="2109978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20940" y="135331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Simplify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576054" y="1316736"/>
            <a:ext cx="2109978" cy="4389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30918" y="135331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JobSpace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1755648"/>
            <a:ext cx="27432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17922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Custom column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1755648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179222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56098" y="1755648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0962" y="179222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66076" y="1755648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0940" y="179222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76054" y="1755648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0918" y="179222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4 types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2194560"/>
            <a:ext cx="2743200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" y="22311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Analytics pipeline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2194560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00984" y="22311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2A"/>
                </a:solidFill>
              </a:rPr>
              <a:t>Basic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356098" y="2194560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0962" y="22311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466076" y="2194560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20940" y="22311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576054" y="2194560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30918" y="22311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6 charts + KPIs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" y="2633472"/>
            <a:ext cx="27432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267004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Company CRM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2633472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2670048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2A"/>
                </a:solidFill>
              </a:rPr>
              <a:t>Basic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356098" y="2633472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0962" y="2670048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66076" y="2633472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0940" y="2670048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576054" y="2633472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30918" y="2670048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Full + recruiter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02920" y="3072384"/>
            <a:ext cx="2743200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" y="31089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Document vault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246120" y="3072384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00984" y="3108960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356098" y="3072384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10962" y="3108960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D1B2A"/>
                </a:solidFill>
              </a:rPr>
              <a:t>Basic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466076" y="3072384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20940" y="3108960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None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9576054" y="3072384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30918" y="3108960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Multi-type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02920" y="3511296"/>
            <a:ext cx="27432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" y="354787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Dual auth (JWT+Session)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46120" y="3511296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00984" y="354787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356098" y="3511296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10962" y="354787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466076" y="3511296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20940" y="354787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9576054" y="3511296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30918" y="3547872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Unique hybrid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02920" y="3950208"/>
            <a:ext cx="2743200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7784" y="398678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API-first architecture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246120" y="3950208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00984" y="398678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356098" y="3950208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10962" y="398678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7466076" y="3950208"/>
            <a:ext cx="2109978" cy="438912"/>
          </a:xfrm>
          <a:prstGeom prst="rect">
            <a:avLst/>
          </a:prstGeom>
          <a:solidFill>
            <a:srgbClr val="EBF3FB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20940" y="398678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9576054" y="3950208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630918" y="3986784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Full REST API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02920" y="4389120"/>
            <a:ext cx="27432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7784" y="442569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2A"/>
                </a:solidFill>
              </a:rPr>
              <a:t>Open-source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246120" y="4389120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00984" y="442569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5356098" y="4389120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10962" y="442569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7466076" y="4389120"/>
            <a:ext cx="2109978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20940" y="442569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5D40"/>
                </a:solidFill>
              </a:rPr>
              <a:t>No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9576054" y="4389120"/>
            <a:ext cx="2109978" cy="438912"/>
          </a:xfrm>
          <a:prstGeom prst="rect">
            <a:avLst/>
          </a:prstGeom>
          <a:solidFill>
            <a:srgbClr val="E8F9F5"/>
          </a:solidFill>
          <a:ln w="5080">
            <a:solidFill>
              <a:srgbClr val="DDE4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30918" y="442569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7C86"/>
                </a:solidFill>
              </a:rPr>
              <a:t>✓ Yes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502920" y="6355080"/>
            <a:ext cx="11183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</a:rPr>
              <a:t>JobSpace is the only tool that delivers all 7 capabilities in a single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926080"/>
            <a:ext cx="5029200" cy="5029200"/>
          </a:xfrm>
          <a:prstGeom prst="line">
            <a:avLst/>
          </a:prstGeom>
          <a:solidFill>
            <a:srgbClr val="1B4F8A">
              <a:alpha val="16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91672" y="6510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457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Thank You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2004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4F0"/>
                </a:solidFill>
              </a:rPr>
              <a:t>JobSpace — A Unified Job Application Intelligence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8046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[1] Grand View Research (2024). Recruitment Technology Market Report.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[2] Breaugh, J.A. (2013). Employee recruitment. Human Resource Management Review.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[3] Fielding, R.T. (2000). REST Architecture. UC Irvine Doctoral Dissertation.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[4] OWASP Foundation (2023). Authentication &amp; CORS Cheat Sheets.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[5] Sadalage &amp; Fowler (2012). NoSQL Distilled. Addison-Wesley.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[6] MongoDB Docs (2024). Aggregation Pipeline. mongodb.com/docs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DDE4F0"/>
                </a:solidFill>
              </a:rPr>
              <a:t>[7] Jones, Bradley, Sakimura (2015). JSON Web Token. RFC 7519. IETF.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5120640"/>
            <a:ext cx="11183112" cy="566928"/>
          </a:xfrm>
          <a:prstGeom prst="rect">
            <a:avLst/>
          </a:prstGeom>
          <a:solidFill>
            <a:srgbClr val="0E7C86">
              <a:alpha val="12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17550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2C39A"/>
                </a:solidFill>
              </a:rPr>
              <a:t>JobSpace is production-deployed, open-source, and ready for real job seekers today.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6272784"/>
            <a:ext cx="11183112" cy="438912"/>
          </a:xfrm>
          <a:prstGeom prst="rect">
            <a:avLst/>
          </a:prstGeom>
          <a:solidFill>
            <a:srgbClr val="1B4F8A">
              <a:alpha val="18000"/>
            </a:srgbClr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327648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Kandagatla Sai Teja  •  Bandi Rithwik  •  Elikatte Tharun  •  Kumba Ganesh  |  SR University  |  CSE [AIML]  |  Batch 9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1492</Words>
  <Application>Microsoft Macintosh PowerPoint</Application>
  <PresentationFormat>Widescreen</PresentationFormat>
  <Paragraphs>279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JobSpace – A Unified Job Application Intelligence Platform</dc:title>
  <dc:subject>PptxGenJS Presentation</dc:subject>
  <dc:creator>SR University – Batch 9</dc:creator>
  <cp:lastModifiedBy>BATMAN</cp:lastModifiedBy>
  <cp:revision>6</cp:revision>
  <dcterms:created xsi:type="dcterms:W3CDTF">2026-04-10T16:30:37Z</dcterms:created>
  <dcterms:modified xsi:type="dcterms:W3CDTF">2026-04-11T05:05:24Z</dcterms:modified>
</cp:coreProperties>
</file>